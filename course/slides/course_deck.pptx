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Pokémon Tableau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>
                <a:solidFill>
                  <a:srgbClr val="FFCB05"/>
                </a:solidFill>
              </a:rPr>
              <a:t>13 lessons · 2 days · one Pokémon battle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One deck for instructors and students — use side by side with the lesson plans.</a:t>
            </a:r>
          </a:p>
        </p:txBody>
      </p:sp>
      <p:pic>
        <p:nvPicPr>
          <p:cNvPr id="6" name="Picture 5" descr="pikac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4754880"/>
            <a:ext cx="1759297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this course is organized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>
                <a:solidFill>
                  <a:srgbClr val="1A1A1A"/>
                </a:solidFill>
              </a:rPr>
              <a:t>•  📘 Instructor LP — your script, sheet by sheet  (course/shared/lesson_plans/)</a:t>
            </a:r>
          </a:p>
          <a:p>
            <a:pPr algn="l">
              <a:spcAft>
                <a:spcPts val="1400"/>
              </a:spcAft>
            </a:pPr>
            <a:r>
              <a:rPr sz="1800">
                <a:solidFill>
                  <a:srgbClr val="1A1A1A"/>
                </a:solidFill>
              </a:rPr>
              <a:t>•  📊 Instructor workbook — pre-built demo  (course/instructor/workbooks/)</a:t>
            </a:r>
          </a:p>
          <a:p>
            <a:pPr algn="l">
              <a:spcAft>
                <a:spcPts val="1400"/>
              </a:spcAft>
            </a:pPr>
            <a:r>
              <a:rPr sz="1800">
                <a:solidFill>
                  <a:srgbClr val="1A1A1A"/>
                </a:solidFill>
              </a:rPr>
              <a:t>•  🎓 Student blank workbook — students start here  (course/student/workbooks_blank/)</a:t>
            </a:r>
          </a:p>
          <a:p>
            <a:pPr algn="l">
              <a:spcAft>
                <a:spcPts val="1400"/>
              </a:spcAft>
            </a:pPr>
            <a:r>
              <a:rPr sz="1800">
                <a:solidFill>
                  <a:srgbClr val="1A1A1A"/>
                </a:solidFill>
              </a:rPr>
              <a:t>•  ✅ Student answer key — compare after attempting  (course/student/workbooks/)</a:t>
            </a:r>
          </a:p>
          <a:p>
            <a:pPr algn="l">
              <a:spcAft>
                <a:spcPts val="1400"/>
              </a:spcAft>
            </a:pPr>
            <a:r>
              <a:rPr sz="1800">
                <a:solidFill>
                  <a:srgbClr val="1A1A1A"/>
                </a:solidFill>
              </a:rPr>
              <a:t>•  🗂️  Raw data — every CSV the lessons use  (course/shared/raw_data/)</a:t>
            </a:r>
          </a:p>
          <a:p>
            <a:pPr algn="l">
              <a:spcAft>
                <a:spcPts val="1400"/>
              </a:spcAft>
            </a:pPr>
            <a:r>
              <a:rPr sz="1800">
                <a:solidFill>
                  <a:srgbClr val="1A1A1A"/>
                </a:solidFill>
              </a:rPr>
              <a:t>•  🖼️  This deck — open per lesson alongside the workbook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Per-lesson layout in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>
                <a:solidFill>
                  <a:srgbClr val="1A1A1A"/>
                </a:solidFill>
              </a:rPr>
              <a:t>•  1️⃣  Divider — lesson title, Pokémon image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A1A1A"/>
                </a:solidFill>
              </a:rPr>
              <a:t>•  2️⃣  Dataset — which CSVs, which joins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A1A1A"/>
                </a:solidFill>
              </a:rPr>
              <a:t>•  3️⃣  Instructor demo — every sheet, in order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A1A1A"/>
                </a:solidFill>
              </a:rPr>
              <a:t>•  4️⃣  Calculated fields — every formula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A1A1A"/>
                </a:solidFill>
              </a:rPr>
              <a:t>•  5️⃣  Dashboard — size and sheet order (when present)</a:t>
            </a:r>
          </a:p>
          <a:p>
            <a:pPr algn="l">
              <a:spcAft>
                <a:spcPts val="1600"/>
              </a:spcAft>
            </a:pPr>
            <a:r>
              <a:rPr sz="2000">
                <a:solidFill>
                  <a:srgbClr val="1A1A1A"/>
                </a:solidFill>
              </a:rPr>
              <a:t>•  6️⃣  Student assignment — blank path, what to build, answer-key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Day 1 —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</a:rPr>
              <a:t>•  Lesson 01 — Intro to Tableau  (45 min)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◦  Interface tour, dimensions vs measures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</a:rPr>
              <a:t>•  Lesson 02 — Basic Visuals  (60 min)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◦  Bar, line, scatter, pie, treemap, heatmap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</a:rPr>
              <a:t>•  Lesson 03 — Advanced Visuals  (60 min)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◦  Time series and multi-encoding marks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</a:rPr>
              <a:t>•  Lesson 04 — Joins &amp; Data Modeling Intro  (60 min)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◦  Join battles with venue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</a:rPr>
              <a:t>•  Lesson 05 — Joins + Advanced Visualizations  (60 min)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◦  Three-table join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</a:rPr>
              <a:t>•  Lesson 06 — Day 1 Story Recap  (45 min)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◦  Tableau Stories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Day 2 —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</a:rPr>
              <a:t>•  Lesson 07 — Day 2 Warm-up  (30 min)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◦  Trainer exploration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</a:rPr>
              <a:t>•  Lesson 08 — Groups &amp; Sets  (60 min)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◦  Custom segmentation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</a:rPr>
              <a:t>•  Lesson 09 — Calculations  (60 min)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◦  Conditional logic, aggregates, math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</a:rPr>
              <a:t>•  Lesson 10 — Mapping  (45 min)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◦  Geographic visualization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</a:rPr>
              <a:t>•  Lesson 11 — Dashboards  (60 min)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◦  Combine views, add interactivity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</a:rPr>
              <a:t>•  Lesson 12 — LOD Calculations  (60 min)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◦  FIXED, INCLUDE, EXCLUDE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</a:rPr>
              <a:t>•  Lesson 13 — Master Reference  (office hours)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◦  Instructor apex workbook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CB05"/>
                </a:solidFill>
              </a:rPr>
              <a:t>LESSON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Intro to Tableau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Interface tour, dimensions vs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FFCB05"/>
                </a:solidFill>
              </a:rPr>
              <a:t>45 min · Day 1</a:t>
            </a:r>
          </a:p>
        </p:txBody>
      </p:sp>
      <p:pic>
        <p:nvPicPr>
          <p:cNvPr id="7" name="Picture 6" descr="pikac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4663440"/>
            <a:ext cx="1759297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01 —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498079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pokemon.csv</a:t>
            </a:r>
          </a:p>
        </p:txBody>
      </p:sp>
      <p:pic>
        <p:nvPicPr>
          <p:cNvPr id="6" name="Picture 5" descr="pikac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3127639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01 — Instructor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1.  Welcome - Avg HP by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Avg([hp])   ·   Cols: [type1]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01 — Student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Time budget: 45 min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1. Open the blank workbook:  student/workbooks_blank/01_intro_blank.twbx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2. Build 1 sheet matching the instructor demo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Stuck? Compare against:  student/workbooks/01_intro_student.twbx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Save your file as:  01_intro_&lt;your-initials&gt;.twbx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CB05"/>
                </a:solidFill>
              </a:rPr>
              <a:t>LESSON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Basic Visuals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Bar, line, scatter, pie, treemap, heatmap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FFCB05"/>
                </a:solidFill>
              </a:rPr>
              <a:t>60 min · Day 1</a:t>
            </a:r>
          </a:p>
        </p:txBody>
      </p:sp>
      <p:pic>
        <p:nvPicPr>
          <p:cNvPr id="7" name="Picture 6" descr="bulbasa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4663440"/>
            <a:ext cx="1765255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02 —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498079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pokemon.csv</a:t>
            </a:r>
          </a:p>
        </p:txBody>
      </p:sp>
      <p:pic>
        <p:nvPicPr>
          <p:cNvPr id="6" name="Picture 5" descr="bulbasa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3138231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02 — Instructor Demo 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1.  01 Bar - Count by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Count([name])   ·   Cols: [type1]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2.  02 Bar Sorted - Avg Attack by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Avg([attack])   ·   Cols: [type1]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3.  03 Side-by-Side - Att vs Def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Avg([attack])   ·   Cols: [type1], [Legendary Label]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4.  04 Stacked Bar - Type Mix by 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Count([name])   ·   Cols: [generation]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[type1]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02 — Instructor Demo 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5.  05 Line - Avg Total by 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Line   ·   Rows: Avg([base_total])   ·   Cols: [generation]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6.  06 Area - Count by 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Area   ·   Rows: Count([name])   ·   Cols: [generation]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7.  07 Scatter - Att vs Def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Circle   ·   Rows: Avg([defense])   ·   Cols: Avg([attack])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[type1]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8.  08 Bubble - Sized by 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Circle   ·   Rows: Avg([defense])   ·   Cols: Avg([attack])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[type1]  |  size: Avg([hp])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02 — Instructor Demo 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9.  09 Heat Map - Type x 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Square   ·   Rows: [type1]   ·   Cols: [generation]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Count([name])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10.  10 Text Table - Stat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Text   ·   Rows: [type1]   ·   Cols: Avg([base_total])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11.  11 Treemap - Pokemon by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Square   ·   Rows: —   ·   Cols: —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[type1]  |  size: Count([name])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02 — Calculated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Legendary Label   (string)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IIF([is_legendary]=1, "Legendary", "Standard")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02 — Student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Time budget: 60 min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1. Open the blank workbook:  student/workbooks_blank/02_basic_visuals_blank.twbx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2. Build 11 sheets matching the instructor demo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3. Create 1 calculated field (formulas on the calc slide)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Stuck? Compare against:  student/workbooks/02_basic_visuals_student.twbx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Save your file as:  02_basic_visuals_&lt;your-initials&gt;.twbx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CB05"/>
                </a:solidFill>
              </a:rPr>
              <a:t>LESSON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Advanced Visuals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Time series and multi-encoding 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FFCB05"/>
                </a:solidFill>
              </a:rPr>
              <a:t>60 min · Day 1</a:t>
            </a:r>
          </a:p>
        </p:txBody>
      </p:sp>
      <p:pic>
        <p:nvPicPr>
          <p:cNvPr id="7" name="Picture 6" descr="chariz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4663440"/>
            <a:ext cx="2092271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03 —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498079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battles.csv</a:t>
            </a:r>
          </a:p>
        </p:txBody>
      </p:sp>
      <p:pic>
        <p:nvPicPr>
          <p:cNvPr id="6" name="Picture 5" descr="chariz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3719593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03 — Instructor Demo 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1.  01 Time Series - Battles by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Line   ·   Rows: Count([battle_id])   ·   Cols: Month([battle_date])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2.  02 Discrete Time - Battles by 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Count([battle_id])   ·   Cols: Quarter([battle_date])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3.  03 Heat Map - Format x Weather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Square   ·   Rows: [battle_format]   ·   Cols: [weather_condition]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Count([battle_id])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4.  04 Box Plot Data - Margin by 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Circle   ·   Rows: [winning_margin]   ·   Cols: [battle_format]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[winning_side]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03 — Instructor Demo 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5.  05 Stacked Bar - Wins by Side and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Count([battle_id])   ·   Cols: [battle_format]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[winning_side]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6.  06 Scatter - Turns vs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Circle   ·   Rows: Avg([winning_margin])   ·   Cols: [battle_turns]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[Margin Tier]  |  size: Avg([attendance])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7.  07 Trend - Avg Attendance Over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Line   ·   Rows: Avg([attendance])   ·   Cols: Month([battle_date])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[battle_format]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8.  08 Bullet-style - Title vs Regular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Avg([attendance])   ·   Cols: [Title Match Label]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03 — Instructor Demo 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9.  09 Slope - Margin by Weather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Line   ·   Rows: Avg([winning_margin])   ·   Cols: [weather_condition]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10.  10 Highlight Table - Format x Margin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Square   ·   Rows: [Margin Tier]   ·   Cols: [battle_format]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Count([battle_id])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03 — Calculated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Title Match Label   (string)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IIF([title_match_flag]=1, "Title Match", "Regular")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Margin Tier   (string)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IF [winning_margin] &gt;= 100 THEN "Blowout" · ELSEIF [winning_margin] &gt;= 50 THEN "Decisive" · ELSEIF [winning_margin] &gt;= 20 THEN "Solid" · ELSE "Close" · END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03 — Student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Time budget: 60 min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1. Open the blank workbook:  student/workbooks_blank/03_advanced_visuals_blank.twbx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2. Build 10 sheets matching the instructor demo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3. Create 2 calculated fields (formulas on the calc slide)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Stuck? Compare against:  student/workbooks/03_advanced_visuals_student.twbx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Save your file as:  03_advanced_visuals_&lt;your-initials&gt;.twbx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CB05"/>
                </a:solidFill>
              </a:rPr>
              <a:t>LESSON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Joins &amp; Data Modeling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Join battles with 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FFCB05"/>
                </a:solidFill>
              </a:rPr>
              <a:t>60 min · Day 1</a:t>
            </a:r>
          </a:p>
        </p:txBody>
      </p:sp>
      <p:pic>
        <p:nvPicPr>
          <p:cNvPr id="7" name="Picture 6" descr="lucar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4663440"/>
            <a:ext cx="1083015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04 —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498079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2 CSVs joined inside Tableau: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battles.csv  (alias: battles)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venue.csv  (alias: venue)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Joins configured: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battles.venue_id = venue.venue_id  (left)</a:t>
            </a:r>
          </a:p>
        </p:txBody>
      </p:sp>
      <p:pic>
        <p:nvPicPr>
          <p:cNvPr id="6" name="Picture 5" descr="lucar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1925361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04 — Instructor Demo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1.  01 Battles by Region (joined field)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Count([battle_id])   ·   Cols: [venue_region]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2.  02 Avg Attendance by Venue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Avg([attendance])   ·   Cols: [venue_venue_type]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3.  03 Fill Rate by Prestige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Avg([Fill Rate])   ·   Cols: [venue_prestige_tier]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4.  04 Indoor vs Outdoor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Avg([winning_margin])   ·   Cols: [venue_indoor_outdoor]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04 — Instructor Demo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5.  05 Battles by Venue Name (top 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Count([battle_id])   ·   Cols: [venue_venue_name]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6.  06 Format Mix by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Count([battle_id])   ·   Cols: [venue_region]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[battle_format]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04 — Calculated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Fill Rate   (real)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[attendance] / [venue_capacity]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04 — Student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Time budget: 60 min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1. Open the blank workbook:  student/workbooks_blank/04_joins_intro_blank.twbx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2. Build 6 sheets matching the instructor demo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3. Create 1 calculated field (formulas on the calc slide)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Stuck? Compare against:  student/workbooks/04_joins_intro_student.twbx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Save your file as:  04_joins_intro_&lt;your-initials&gt;.twbx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CB05"/>
                </a:solidFill>
              </a:rPr>
              <a:t>LESSON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Joins + Advanced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Three-table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FFCB05"/>
                </a:solidFill>
              </a:rPr>
              <a:t>60 min · Day 1</a:t>
            </a:r>
          </a:p>
        </p:txBody>
      </p:sp>
      <p:pic>
        <p:nvPicPr>
          <p:cNvPr id="7" name="Picture 6" descr="greninj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4663440"/>
            <a:ext cx="2763151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05 —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498079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3 CSVs joined inside Tableau: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battle_participant.csv  (alias: battle_participant)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pokemon.csv  (alias: pokemon)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trainer.csv  (alias: trainer)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Joins configured: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battle_participant.pokemonid = pokemon.pokedex_number  (left)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battle_participant.trainer_id = trainer.trainer_id  (left)</a:t>
            </a:r>
          </a:p>
        </p:txBody>
      </p:sp>
      <p:pic>
        <p:nvPicPr>
          <p:cNvPr id="6" name="Picture 5" descr="greninj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4912268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05 — Instructor Demo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1.  01 Avg Power by Pokemon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Avg([adjusted_power])   ·   Cols: [pokemon_type1]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[Legendary Label]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2.  02 Win Rate by Trainer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Avg([is_winner])   ·   Cols: [trainer_trainer_class]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3.  03 Experience Tier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Avg([is_winner])   ·   Cols: [trainer_experience_tier]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[Gym Leader Label]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4.  04 Region x Type Heat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Square   ·   Rows: [pokemon_type1]   ·   Cols: [trainer_home_region]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Count([battle_participant_id])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05 — Instructor Demo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5.  05 Legendary MVP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Avg([is_mvp_flag])   ·   Cols: [Legendary Label]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6.  06 Gym Leader Win Rate by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Avg([is_winner])   ·   Cols: [pokemon_type1]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[Gym Leader Label]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05 — Calculated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Legendary Label   (string)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IIF([pokemon_is_legendary]=1, "Legendary", "Standard")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Gym Leader Label   (string)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IIF([trainer_is_gym_leader]=1, "Gym Leader", "Regular")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05 — Student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Time budget: 60 min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1. Open the blank workbook:  student/workbooks_blank/05_joins_advanced_blank.twbx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2. Build 6 sheets matching the instructor demo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3. Create 2 calculated fields (formulas on the calc slide)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Stuck? Compare against:  student/workbooks/05_joins_advanced_student.twbx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Save your file as:  05_joins_advanced_&lt;your-initials&gt;.twbx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CB05"/>
                </a:solidFill>
              </a:rPr>
              <a:t>LESSON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Day 1 Story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Tableau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FFCB05"/>
                </a:solidFill>
              </a:rPr>
              <a:t>45 min · Day 1</a:t>
            </a:r>
          </a:p>
        </p:txBody>
      </p:sp>
      <p:pic>
        <p:nvPicPr>
          <p:cNvPr id="7" name="Picture 6" descr="mewtw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4663440"/>
            <a:ext cx="1346363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06 —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498079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battles.csv</a:t>
            </a:r>
          </a:p>
        </p:txBody>
      </p:sp>
      <p:pic>
        <p:nvPicPr>
          <p:cNvPr id="6" name="Picture 5" descr="mewtw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2393533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06 — Instructor Demo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1.  Story Pt 1 - Activity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Line   ·   Rows: Count([battle_id])   ·   Cols: Month([battle_date])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2.  Story Pt 2 - Format Popularity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Count([battle_id])   ·   Cols: [battle_format]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3.  Story Pt 3 - Home Field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Count([battle_id])   ·   Cols: [winning_side]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4.  Story Pt 4 - Attendance vs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Circle   ·   Rows: Avg([attendance])   ·   Cols: Avg([winning_margin])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[battle_format]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06 — Instructor Demo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5.  Story Pt 5 - Weather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Avg([winning_margin])   ·   Cols: [weather_condition]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06 — Student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Time budget: 45 min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1. Open the blank workbook:  student/workbooks_blank/06_story_blank.twbx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2. Build 5 sheets matching the instructor demo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Stuck? Compare against:  student/workbooks/06_story_student.twbx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Save your file as:  06_story_&lt;your-initials&gt;.twbx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CB05"/>
                </a:solidFill>
              </a:rPr>
              <a:t>LESSON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Day 2 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Trainer 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FFCB05"/>
                </a:solidFill>
              </a:rPr>
              <a:t>30 min · Day 2</a:t>
            </a:r>
          </a:p>
        </p:txBody>
      </p:sp>
      <p:pic>
        <p:nvPicPr>
          <p:cNvPr id="7" name="Picture 6" descr="magikar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4663440"/>
            <a:ext cx="147188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07 —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498079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trainer.csv</a:t>
            </a:r>
          </a:p>
        </p:txBody>
      </p:sp>
      <p:pic>
        <p:nvPicPr>
          <p:cNvPr id="6" name="Picture 5" descr="magikar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2616676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07 — Instructor Demo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1.  01 Trainers by Region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Count([trainer_id])   ·   Cols: [home_region]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2.  02 Strategy vs Aggression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Circle   ·   Rows: Avg([aggression_rating])   ·   Cols: Avg([strategy_rating])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[experience_tier]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3.  03 Preferred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Count([trainer_id])   ·   Cols: [preferred_type]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4.  04 Gym Leader Stats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Avg([Avg Rating])   ·   Cols: [Gym Leader Label]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07 — Instructor Demo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5.  05 Years vs Avg 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Circle   ·   Rows: Avg([Avg Rating])   ·   Cols: [years_experience]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[experience_tier]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07 — Calculated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Gym Leader Label   (string)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IIF([is_gym_leader]=1, "Gym Leader", "Regular")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Avg Rating   (real)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([strategy_rating]+[adaptability_rating]+[aggression_rating])/3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07 — Student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Time budget: 30 min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1. Open the blank workbook:  student/workbooks_blank/07_warmup_blank.twbx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2. Build 5 sheets matching the instructor demo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3. Create 2 calculated fields (formulas on the calc slide)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Stuck? Compare against:  student/workbooks/07_warmup_student.twbx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Save your file as:  07_warmup_&lt;your-initials&gt;.twbx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CB05"/>
                </a:solidFill>
              </a:rPr>
              <a:t>LESSON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Groups &amp; 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Custom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FFCB05"/>
                </a:solidFill>
              </a:rPr>
              <a:t>60 min · Day 2</a:t>
            </a:r>
          </a:p>
        </p:txBody>
      </p:sp>
      <p:pic>
        <p:nvPicPr>
          <p:cNvPr id="7" name="Picture 6" descr="snorla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4663440"/>
            <a:ext cx="2063131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08 —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498079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pokemon.csv</a:t>
            </a:r>
          </a:p>
        </p:txBody>
      </p:sp>
      <p:pic>
        <p:nvPicPr>
          <p:cNvPr id="6" name="Picture 5" descr="snorla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3667788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08 — Instructor Demo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1.  01 Type Family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Count([name])   ·   Cols: [Type Family (Group)]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2.  02 Avg Total by Type Family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Avg([base_total])   ·   Cols: [Type Family (Group)]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[Legendary Set]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3.  03 Speed Bucket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Count([name])   ·   Cols: [Speed Bucket (Group)]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[Power Tier]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4.  04 S-Tier Pokemon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Count([name])   ·   Cols: [Top Tier Set (S-Tier)]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[type1]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08 — Instructor Demo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5.  05 Heavy Hitters by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Count([name])   ·   Cols: [type1]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[Heavy Hitter Set]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6.  06 Generation Group x Power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Square   ·   Rows: [Generation Group]   ·   Cols: [Power Tier]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Count([name])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7.  07 Legendaries by Type 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Count([name])   ·   Cols: [Type Family (Group)]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[Legendary Set]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08 — Calculated Fields 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Type Family (Group)   (string)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IF [type1]="fire" OR [type1]="water" OR [type1]="grass" THEN "Starter Element" · ELSEIF [type1]="dragon" OR [type1]="psychic" OR [type1]="ghost" OR [type1]="dark" THEN "Mystical" · ELSEIF [type1]="fighting" OR [type1]="rock" OR [type1]="steel" OR [type1]="ground" THEN "Physical" · ELSEIF [type1]="electric" OR [type1]="ice" OR [type1]="fairy" OR [type1]="flying" THEN "Air &amp; Energy" · ELSE "Common" ·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Legendary Set   (string)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IIF([is_legendary]=1, "In - Legendary", "Out - Standard")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Top Tier Set (S-Tier)   (string)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IIF([base_total] &gt;= 600, "In - S-Tier", "Out")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08 — Calculated Fields 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Speed Bucket (Group)   (string)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IF [speed] &gt;= 110 THEN "Lightning" · ELSEIF [speed] &gt;= 80 THEN "Fast" · ELSEIF [speed] &gt;= 50 THEN "Average" · ELSE "Slow" ·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Power Tier   (string)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IF [base_total] &gt;= 600 THEN "S-Tier" · ELSEIF [base_total] &gt;= 500 THEN "A-Tier" · ELSEIF [base_total] &gt;= 400 THEN "B-Tier" · ELSE "C-Tier" ·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Heavy Hitter Set   (string)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IIF([attack] &gt;= 100 AND [defense] &gt;= 100, "In - Heavy Hitter", "Out")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08 — Calculated Fields 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Generation Group   (string)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IF [generation] &lt;= 2 THEN "Classic (Gen 1-2)" · ELSEIF [generation] &lt;= 4 THEN "Modern (Gen 3-4)" · ELSE "Recent (Gen 5+)" · END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08 — Student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Time budget: 60 min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1. Open the blank workbook:  student/workbooks_blank/08_groups_sets_blank.twbx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2. Build 7 sheets matching the instructor demo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3. Create 7 calculated fields (formulas on the calc slide)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Stuck? Compare against:  student/workbooks/08_groups_sets_student.twbx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Save your file as:  08_groups_sets_&lt;your-initials&gt;.twbx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CB05"/>
                </a:solidFill>
              </a:rPr>
              <a:t>LESSON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Conditional logic, aggregates,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FFCB05"/>
                </a:solidFill>
              </a:rPr>
              <a:t>60 min · Day 2</a:t>
            </a:r>
          </a:p>
        </p:txBody>
      </p:sp>
      <p:pic>
        <p:nvPicPr>
          <p:cNvPr id="7" name="Picture 6" descr="geng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4663440"/>
            <a:ext cx="1610139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09 —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498079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battle_participant.csv</a:t>
            </a:r>
          </a:p>
        </p:txBody>
      </p:sp>
      <p:pic>
        <p:nvPicPr>
          <p:cNvPr id="6" name="Picture 5" descr="geng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286247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09 — Instructor Demo 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1.  01 Power Lift by Side (C01)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Avg([C01 Arithmetic - Power Lift])   ·   Cols: [team_side]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2.  02 Power Class Mix (C05)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Count([battle_participant_id])   ·   Cols: [C05 Logical - IF/ELSEIF Power Class]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3.  03 Slot Roles (C06)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Count([battle_participant_id])   ·   Cols: [C06 Logical - CASE Slot Role]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[team_side]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4.  04 MVP Wins (C07)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Count([battle_participant_id])   ·   Cols: [C07 Logical - Compound Boolean]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09 — Instructor Demo 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5.  05 Trainer Prefix Distribution (C08)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Count([battle_participant_id])   ·   Cols: [C08 String - Trainer Prefix]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6.  06 Win Rate Manual (C12)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[C12 Aggregate - Win Rate Manual]   ·   Cols: [team_side]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7.  07 Unique Counts (C13/C14)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[C13 Aggregate - COUNTD Trainers]   ·   Cols: [team_side]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8.  08 MVP Power Total (C15)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[C15 Conditional Agg - MVP Power Sum]   ·   Cols: [team_side]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09 — Instructor Demo 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9.  09 Lift Direction (C18)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Count([battle_participant_id])   ·   Cols: [C18 Sign Function - Lift Direction]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10.  10 Power Class x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Square   ·   Rows: [C05 Logical - IF/ELSEIF Power Class]   ·   Cols: [team_side]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Count([battle_participant_id])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09 — Calculated Fields  (1/7)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C01 Arithmetic - Power Lift   (real)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[adjusted_power] - [base_power]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C02 Arithmetic - Power Ratio   (real)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[adjusted_power] / [base_power]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C03 Arithmetic - Power per Slot   (real)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[adjusted_power] / [slot_number]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09 — Calculated Fields  (2/7)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C04 Logical - IIF Win Label   (string)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IIF([is_winner]=1, "Won", "Lost")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C05 Logical - IF/ELSEIF Power Class   (string)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IF [adjusted_power] &gt;= 600 THEN "Dominant" · ELSEIF [adjusted_power] &gt;= 500 THEN "Strong" · ELSEIF [adjusted_power] &gt;= 400 THEN "Balanced" · ELSE "Underdog" ·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C06 Logical - CASE Slot Role   (string)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CASE [slot_number] · WHEN 1 THEN "Lead" · WHEN 2 THEN "Middle" · WHEN 3 THEN "Anchor" · ELSE "Reserve" · END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09 — Calculated Fields  (3/7)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C07 Logical - Compound Boolean   (string)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IIF([is_winner]=1 AND [is_mvp_flag]=1, "MVP Win", "Other")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C08 String - Trainer Prefix   (string)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LEFT([trainer_id],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C09 String - ID Length   (integer)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LEN([battle_id])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09 — Calculated Fields  (4/7)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C10 String - ID Upper   (string)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UPPER([team_side])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C11 Type Convert - Slot as String   (string)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STR([slot_number])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C12 Aggregate - Win Rate Manual   (real)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SUM([is_winner]) / COUNT([battle_id])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09 — Calculated Fields  (5/7)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C13 Aggregate - COUNTD Trainers   (integer)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COUNTD([trainer_id])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C14 Aggregate - COUNTD Pokemon   (integer)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COUNTD([pokemonid])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C15 Conditional Agg - MVP Power Sum   (real)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SUM(IIF([is_mvp_flag]=1, [adjusted_power], 0))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09 — Calculated Fields  (6/7)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C16 Conditional Agg - Wins Only   (integer)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SUM(IIF([is_winner]=1, 1, 0))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C17 Null-Safe ZN Power Lift   (real)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ZN([adjusted_power]) - ZN([base_power])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C18 Sign Function - Lift Direction   (integer)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SIGN([adjusted_power] - [base_power])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09 — Calculated Fields  (7/7)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C19 ABS Function - Lift Magnitude   (real)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ABS([adjusted_power] - [base_power])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C20 ROUND - Power 2-decimal   (real)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ROUND([adjusted_power], 2)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09 — Student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Time budget: 60 min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1. Open the blank workbook:  student/workbooks_blank/09_calculations_blank.twbx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2. Build 10 sheets matching the instructor demo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3. Create 20 calculated fields (formulas on the calc slide)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Stuck? Compare against:  student/workbooks/09_calculations_student.twbx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Save your file as:  09_calculations_&lt;your-initials&gt;.twbx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CB05"/>
                </a:solidFill>
              </a:rPr>
              <a:t>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Geographic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FFCB05"/>
                </a:solidFill>
              </a:rPr>
              <a:t>45 min · Day 2</a:t>
            </a:r>
          </a:p>
        </p:txBody>
      </p:sp>
      <p:pic>
        <p:nvPicPr>
          <p:cNvPr id="7" name="Picture 6" descr="dragon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4663440"/>
            <a:ext cx="1277561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10 —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498079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venue.csv</a:t>
            </a:r>
          </a:p>
        </p:txBody>
      </p:sp>
      <p:pic>
        <p:nvPicPr>
          <p:cNvPr id="6" name="Picture 5" descr="dragon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22712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10 — Instructor Demo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1.  01 Symbol Map - Venues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Automatic   ·   Rows: Avg([lat])   ·   Cols: Avg([lon])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2.  02 Symbol Map - Colored by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Automatic   ·   Rows: Avg([lat])   ·   Cols: Avg([lon])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[venue_type]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3.  03 Symbol Map - Sized by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Automatic   ·   Rows: Avg([lat])   ·   Cols: Avg([lon])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[Capacity Bucket]  |  size: Avg([capacity])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4.  04 Map - Region Highlight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Automatic   ·   Rows: Avg([lat])   ·   Cols: Avg([lon])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[region]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10 — Instructor Demo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5.  05 Indoor vs Outdoor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Automatic   ·   Rows: Avg([lat])   ·   Cols: Avg([lon])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[indoor_outdoor]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6.  06 Bar Companion - Venues by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Count([venue_id])   ·   Cols: [region]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7.  07 Bar Companion - Capacity by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Avg([capacity])   ·   Cols: [venue_type]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8.  08 Terrain Edge by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Avg([terrain_edge_pct])   ·   Cols: [venue_type]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10 — Calculated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Capacity Bucket   (string)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IF [capacity] &gt;= 1500 THEN "Mega (1500+)" · ELSEIF [capacity] &gt;= 1000 THEN "Large (1000-1499)" · ELSEIF [capacity] &gt;= 500 THEN "Mid (500-999)" · ELSE "Small (&lt;500)" · END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10 — Student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Time budget: 45 min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1. Open the blank workbook:  student/workbooks_blank/10_mapping_blank.twbx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2. Build 8 sheets matching the instructor demo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3. Create 1 calculated field (formulas on the calc slide)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Stuck? Compare against:  student/workbooks/10_mapping_student.twbx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Save your file as:  10_mapping_&lt;your-initials&gt;.twbx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CB05"/>
                </a:solidFill>
              </a:rP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Combine views, add interactivity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FFCB05"/>
                </a:solidFill>
              </a:rPr>
              <a:t>60 min · Day 2</a:t>
            </a:r>
          </a:p>
        </p:txBody>
      </p:sp>
      <p:pic>
        <p:nvPicPr>
          <p:cNvPr id="7" name="Picture 6" descr="pikac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4663440"/>
            <a:ext cx="1759297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11 —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498079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5 CSVs joined inside Tableau: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battle_participant.csv  (alias: battle_participant)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pokemon.csv  (alias: pokemon)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trainer.csv  (alias: trainer)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battles.csv  (alias: battles)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venue.csv  (alias: venue)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Joins configured: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battle_participant.pokemonid = pokemon.pokedex_number  (left)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battle_participant.trainer_id = trainer.trainer_id  (left)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battle_participant.battle_id = battles.battle_id  (left)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battles.venue_id = venue.venue_id  (left)</a:t>
            </a:r>
          </a:p>
        </p:txBody>
      </p:sp>
      <p:pic>
        <p:nvPicPr>
          <p:cNvPr id="6" name="Picture 5" descr="pikac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3127639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11 — Instructor Demo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1.  D1 Power by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Avg([adjusted_power])   ·   Cols: [pokemon_type1]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[Legendary Label]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2.  D2 Win Rate by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Avg([is_winner])   ·   Cols: [trainer_experience_tier]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3.  D3 Wins Over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Line   ·   Rows: Avg([is_winner])   ·   Cols: Month([battles_battle_date])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4.  D4 Region Participation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Count([battle_participant_id])   ·   Cols: [venue_region]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11 — Instructor Demo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5.  D5 Format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Countd([battle_id])   ·   Cols: [battles_battle_format]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6.  D6 Type x Venue Heat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Square   ·   Rows: [pokemon_type1]   ·   Cols: [venue_venue_type]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Avg([is_winner])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11 — Calculated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Legendary Label   (string)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IIF([pokemon_is_legendary]=1, "Legendary", "Standard")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11 —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Name: Battle Insights Dashboard    ·    Size: 1400 × 1400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Sheets (top → bottom):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728655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1.  D1 Power by Type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2.  D2 Win Rate by Experience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3.  D3 Wins Over Time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4.  D4 Region Participation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5.  D5 Format Mix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6.  D6 Type x Venue Heat Map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11 — Student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Time budget: 60 min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1. Open the blank workbook:  student/workbooks_blank/11_dashboards_blank.twbx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2. Build 6 sheets matching the instructor demo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3. Create 1 calculated field (formulas on the calc slide)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Stuck? Compare against:  student/workbooks/11_dashboards_student.twbx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Save your file as:  11_dashboards_&lt;your-initials&gt;.twbx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CB05"/>
                </a:solidFill>
              </a:rP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LOD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FIXED, INCLUDE, EXCLUDE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FFCB05"/>
                </a:solidFill>
              </a:rPr>
              <a:t>60 min · Day 2</a:t>
            </a:r>
          </a:p>
        </p:txBody>
      </p:sp>
      <p:pic>
        <p:nvPicPr>
          <p:cNvPr id="7" name="Picture 6" descr="mewtw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4663440"/>
            <a:ext cx="1346363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12 —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498079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5 CSVs joined inside Tableau: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battle_participant.csv  (alias: battle_participant)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pokemon.csv  (alias: pokemon)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trainer.csv  (alias: trainer)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battles.csv  (alias: battles)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venue.csv  (alias: venue)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Joins configured: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battle_participant.pokemonid = pokemon.pokedex_number  (left)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battle_participant.trainer_id = trainer.trainer_id  (left)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battle_participant.battle_id = battles.battle_id  (left)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battles.venue_id = venue.venue_id  (left)</a:t>
            </a:r>
          </a:p>
        </p:txBody>
      </p:sp>
      <p:pic>
        <p:nvPicPr>
          <p:cNvPr id="6" name="Picture 5" descr="mewtw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2393533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12 — Instructor Demo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1.  01 Trainer Win Rate Distribution (L03)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Countd([trainer_id])   ·   Cols: [L03 FIXED Trainer - Win Rate]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2.  02 Trainer vs Overall (L11)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Avg([L11 Comparison - Trainer vs Overall])   ·   Cols: [trainer_experience_tier]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3.  03 Power vs Trainer Avg (L10)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Avg([L10 Comparison - Power vs Trainer Avg])   ·   Cols: [slot_number]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[team_side]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4.  04 Pokemon Win Rate (L04)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Avg([L04 FIXED Pokemon - Win Rate])   ·   Cols: [pokemon_type1]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12 — Instructor Demo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5.  05 Type x Venue Win Rate (L07)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Square   ·   Rows: [pokemon_type1]   ·   Cols: [venue_venue_type]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Avg([L07 FIXED VType - Type Win Rate])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6.  06 % of Total Power (L13)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[L13 % of Total via FIXED]   ·   Cols: [team_side]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7.  07 Battles per Venue (L05)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Avg([L05 FIXED Venue - Battles])   ·   Cols: [battles_venue_id]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8.  08 Battles per Trainer (L14)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Avg([L14 Trainer Battle Count (FIXED)])   ·   Cols: [trainer_experience_tier]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12 — Calculated Fields  (1/5)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L01 FIXED - Overall Avg Power   (real)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: AVG([adjusted_power])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L02 FIXED Trainer - Avg Power   (real)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[trainer_id] : AVG([adjusted_power])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L03 FIXED Trainer - Win Rate   (real)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[trainer_id] : AVG([is_winner]) }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12 — Calculated Fields  (2/5)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L04 FIXED Pokemon - Win Rate   (real)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[pokemonid] : AVG([is_winner])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L05 FIXED Venue - Battles   (integer)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[battles_venue_id] : COUNTD([battle_id])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L06 FIXED Trainer+Type - Win Rate   (real)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[trainer_id], [pokemon_type1] : AVG([is_winner]) }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12 — Calculated Fields  (3/5)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L07 FIXED VType - Type Win Rate   (real)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[venue_venue_type], [pokemon_type1] : AVG([is_winner])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L08 INCLUDE Battle - Avg Power   (real)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INCLUDE [battle_id] : AVG([adjusted_power])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L09 EXCLUDE Side - Avg Power   (real)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EXCLUDE [team_side] : AVG([adjusted_power]) }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12 — Calculated Fields  (4/5)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L10 Comparison - Power vs Trainer Avg   (real)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[adjusted_power] - { FIXED [trainer_id] : AVG([adjusted_power])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L11 Comparison - Trainer vs Overall   (real)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[trainer_id] : AVG([adjusted_power]) } - { FIXED : AVG([adjusted_power])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L12 Nested - Trainer Avg of Battle Avg   (real)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[trainer_id] : AVG({ INCLUDE [battle_id] : AVG([adjusted_power]) }) }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12 — Calculated Fields  (5/5)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L13 % of Total via FIXED   (real)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SUM([adjusted_power]) / { FIXED : SUM([adjusted_power])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L14 Trainer Battle Count (FIXED)   (integer)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[trainer_id] : COUNTD([battle_id]) }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12 — Student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Time budget: 60 min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1. Open the blank workbook:  student/workbooks_blank/12_lod_blank.twbx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2. Build 8 sheets matching the instructor demo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3. Create 14 calculated fields (formulas on the calc slide)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Stuck? Compare against:  student/workbooks/12_lod_student.twbx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Save your file as:  12_lod_&lt;your-initials&gt;.twbx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CB05"/>
                </a:solidFill>
              </a:rPr>
              <a:t>LESSON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Master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Instructor apex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FFCB05"/>
                </a:solidFill>
              </a:rPr>
              <a:t>office hours · Day 2</a:t>
            </a:r>
          </a:p>
        </p:txBody>
      </p:sp>
      <p:pic>
        <p:nvPicPr>
          <p:cNvPr id="7" name="Picture 6" descr="chariz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4663440"/>
            <a:ext cx="2092271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13 —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498079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5 CSVs joined inside Tableau: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battle_participant.csv  (alias: battle_participant)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pokemon.csv  (alias: pokemon)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trainer.csv  (alias: trainer)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battles.csv  (alias: battles)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venue.csv  (alias: venue)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Joins configured: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battle_participant.pokemonid = pokemon.pokedex_number  (left)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battle_participant.trainer_id = trainer.trainer_id  (left)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battle_participant.battle_id = battles.battle_id  (left)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◦  battles.venue_id = venue.venue_id  (left)</a:t>
            </a:r>
          </a:p>
        </p:txBody>
      </p:sp>
      <p:pic>
        <p:nvPicPr>
          <p:cNvPr id="6" name="Picture 5" descr="chariz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3719593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13 — Instructor Demo 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1.  Q1 Best Type per Venue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Square   ·   Rows: [pokemon_type1]   ·   Cols: [venue_venue_type]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Avg([Type x Venue Win Rate])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2.  Q2 Venue Map - Battle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Automatic   ·   Rows: Avg([venue_lat])   ·   Cols: Avg([venue_lon])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[venue_venue_type]  |  size: Avg([Venue Battles (FIXED)])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3.  Q3 Trainer Win Rate by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Square   ·   Rows: [trainer_id]   ·   Cols: [pokemon_type1]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Avg([Trainer x Type Win Rate])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4.  Q4 Win Rate Over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Line   ·   Rows: Avg([is_winner])   ·   Cols: Month([battles_battle_date])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[trainer_experience_tier]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13 — Instructor Demo 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5.  Q5 Type Win Rate Over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Line   ·   Rows: Avg([is_winner])   ·   Cols: Quarter([battles_battle_date])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[pokemon_type1]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6.  Q6 Most Successful Pokemon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Avg([Pokemon Win Rate (FIXED)])   ·   Cols: [pokemon_name]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[Legendary Label]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7.  Q7 Most Successful Pokemon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Avg([Pokemon Type Win Rate (FIXED)])   ·   Cols: [pokemon_type1]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8.  Q8 Power Tier Mix by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Count([battle_participant_id])   ·   Cols: [pokemon_type1]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[Power Tier]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0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13 — Instructor Demo 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Walk these sheets in the workbook,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9.  Q9 Type Advantage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Avg([is_winner])   ·   Cols: [Type Advantage Match]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10.  Q10 MVP Pokemon by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Avg([MVP Win Rate])   ·   Cols: [pokemon_type1]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11.  Q11 Power Boost by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Avg([Power Boost])   ·   Cols: [venue_type_match_flag]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12.  Q12 Region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Mark: Bar   ·   Rows: Avg([is_winner])   ·   Cols: [venue_region]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color: [Legendary Label]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13 — Calculated Fields 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Legendary Label   (string)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IIF([pokemon_is_legendary]=1, "Legendary", "Standard")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Gym Leader Label   (string)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IIF([trainer_is_gym_leader]=1, "Gym Leader", "Regular")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Power Tier   (string)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IF [adjusted_power] &gt;= 600 THEN "S-Tier" · ELSEIF [adjusted_power] &gt;= 500 THEN "A-Tier" · ELSEIF [adjusted_power] &gt;= 400 THEN "B-Tier" · ELSE "C-Tier" · END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13 — Calculated Fields 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Type Advantage Match   (string)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IIF([pokemon_type1]=[venue_venue_type], "Aligned", "Not Aligned")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Power Boost   (real)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[adjusted_power] - [base_power]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Pokemon Win Rate (FIXED)   (real)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[pokemon_name] : AVG([is_winner]) }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13 — Calculated Fields 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Pokemon Type Win Rate (FIXED)   (real)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[pokemon_type1] : AVG([is_winner])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Trainer Win Rate (FIXED)   (real)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[trainer_id] : AVG([is_winner])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Type x Venue Win Rate   (real)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[pokemon_type1], [venue_venue_type] : AVG([is_winner]) }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13 — Calculated Fields 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Trainer x Type Win Rate   (real)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[trainer_id], [pokemon_type1] : AVG([is_winner])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Venue Battles (FIXED)   (integer)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[battles_venue_id] : COUNTD([battle_id])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2B5C"/>
                </a:solidFill>
              </a:rPr>
              <a:t>MVP Win Rate   (real)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45433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{ FIXED [pokemon_name] : AVG([is_mvp_flag]) }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13 —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Name: Pokemon Battle Universe - Apex Dashboard    ·    Size: 1600 × 2400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Sheets (top → bottom):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728655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1.  Q1 Best Type per Venue Type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2.  Q2 Venue Map - Battle Counts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3.  Q3 Trainer Win Rate by Type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4.  Q4 Win Rate Over Time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5.  Q5 Type Win Rate Over Time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6.  Q6 Most Successful Pokemon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7.  Q7 Most Successful Pokemon Type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8.  Q8 Power Tier Mix by Type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9.  Q9 Type Advantage Effect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10.  Q10 MVP Pokemon by Type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11.  Q11 Power Boost by Match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</a:rPr>
              <a:t>•  12.  Q12 Region Performance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 13 — Student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>
                <a:solidFill>
                  <a:srgbClr val="1A1A1A"/>
                </a:solidFill>
              </a:rPr>
              <a:t>•  No student activity.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1A1A1A"/>
                </a:solidFill>
              </a:rPr>
              <a:t>•  This is the instructor's apex reference — used during office hours.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1A1A1A"/>
                </a:solidFill>
              </a:rPr>
              <a:t>•  Students do not submit work for this lesson.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That's a wrap, Trainer.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CB05"/>
                </a:solidFill>
              </a:rPr>
              <a:t>All artifacts live in course/ — commit and share.</a:t>
            </a:r>
          </a:p>
        </p:txBody>
      </p:sp>
      <p:pic>
        <p:nvPicPr>
          <p:cNvPr id="5" name="Picture 4" descr="pikac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7" y="4480560"/>
            <a:ext cx="1954774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